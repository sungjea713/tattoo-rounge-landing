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embeddedFontLst>
    <p:embeddedFont>
      <p:font typeface="Roboto" panose="02000000000000000000" pitchFamily="2" charset="0"/>
      <p:regular r:id="rId20"/>
      <p:bold r:id="rId21"/>
    </p:embeddedFont>
    <p:embeddedFont>
      <p:font typeface="Roboto Slab" pitchFamily="2" charset="0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54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0" d="100"/>
          <a:sy n="50" d="100"/>
        </p:scale>
        <p:origin x="3772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기철 한" userId="27e4dd2525f70dbc" providerId="LiveId" clId="{C123D6A5-3023-4E05-9F95-109F13861F07}"/>
    <pc:docChg chg="modSld">
      <pc:chgData name="기철 한" userId="27e4dd2525f70dbc" providerId="LiveId" clId="{C123D6A5-3023-4E05-9F95-109F13861F07}" dt="2025-12-14T10:51:53.908" v="30" actId="1037"/>
      <pc:docMkLst>
        <pc:docMk/>
      </pc:docMkLst>
      <pc:sldChg chg="modSp mod">
        <pc:chgData name="기철 한" userId="27e4dd2525f70dbc" providerId="LiveId" clId="{C123D6A5-3023-4E05-9F95-109F13861F07}" dt="2025-12-14T10:50:37.919" v="1" actId="207"/>
        <pc:sldMkLst>
          <pc:docMk/>
          <pc:sldMk cId="0" sldId="261"/>
        </pc:sldMkLst>
        <pc:spChg chg="mod">
          <ac:chgData name="기철 한" userId="27e4dd2525f70dbc" providerId="LiveId" clId="{C123D6A5-3023-4E05-9F95-109F13861F07}" dt="2025-12-14T10:50:37.919" v="1" actId="20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기철 한" userId="27e4dd2525f70dbc" providerId="LiveId" clId="{C123D6A5-3023-4E05-9F95-109F13861F07}" dt="2025-12-14T10:51:53.908" v="30" actId="1037"/>
        <pc:sldMkLst>
          <pc:docMk/>
          <pc:sldMk cId="0" sldId="272"/>
        </pc:sldMkLst>
        <pc:picChg chg="mod">
          <ac:chgData name="기철 한" userId="27e4dd2525f70dbc" providerId="LiveId" clId="{C123D6A5-3023-4E05-9F95-109F13861F07}" dt="2025-12-14T10:51:53.908" v="30" actId="1037"/>
          <ac:picMkLst>
            <pc:docMk/>
            <pc:sldMk cId="0" sldId="272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97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svg"/><Relationship Id="rId18" Type="http://schemas.openxmlformats.org/officeDocument/2006/relationships/image" Target="../media/image65.png"/><Relationship Id="rId3" Type="http://schemas.openxmlformats.org/officeDocument/2006/relationships/image" Target="../media/image50.png"/><Relationship Id="rId7" Type="http://schemas.openxmlformats.org/officeDocument/2006/relationships/image" Target="../media/image54.svg"/><Relationship Id="rId12" Type="http://schemas.openxmlformats.org/officeDocument/2006/relationships/image" Target="../media/image59.png"/><Relationship Id="rId17" Type="http://schemas.openxmlformats.org/officeDocument/2006/relationships/image" Target="../media/image64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10" Type="http://schemas.openxmlformats.org/officeDocument/2006/relationships/image" Target="../media/image57.png"/><Relationship Id="rId19" Type="http://schemas.openxmlformats.org/officeDocument/2006/relationships/image" Target="../media/image66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Relationship Id="rId1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4757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미성 CRM 개발 가이드</a:t>
            </a:r>
            <a:endParaRPr lang="en-US" sz="3900" b="1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46448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건설사 영업부터 현장 추가 영업, AS 관리까지 통합 관리하는 실무 중심 CRM 시스템 개발 가이드입니다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2240"/>
            <a:ext cx="584727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57B8"/>
                </a:solidFill>
                <a:latin typeface="+mj-ea"/>
                <a:ea typeface="+mj-ea"/>
                <a:cs typeface="Roboto Slab" pitchFamily="34" charset="-120"/>
              </a:rPr>
              <a:t>일일업무일지 추가 개발 개요</a:t>
            </a:r>
            <a:endParaRPr lang="en-US" sz="3900" b="1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49153"/>
            <a:ext cx="4215289" cy="2572226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2947511"/>
            <a:ext cx="595313" cy="59531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5859" y="3111103"/>
            <a:ext cx="267891" cy="2678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2148" y="37411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+mj-ea"/>
                <a:ea typeface="+mj-ea"/>
                <a:cs typeface="Roboto Slab" pitchFamily="34" charset="-120"/>
              </a:rPr>
              <a:t>건설사 영업 관리</a:t>
            </a:r>
            <a:endParaRPr lang="en-US" sz="1950" b="1" dirty="0">
              <a:latin typeface="+mj-ea"/>
              <a:ea typeface="+mj-ea"/>
            </a:endParaRPr>
          </a:p>
        </p:txBody>
      </p:sp>
      <p:sp>
        <p:nvSpPr>
          <p:cNvPr id="7" name="Text 3"/>
          <p:cNvSpPr/>
          <p:nvPr/>
        </p:nvSpPr>
        <p:spPr>
          <a:xfrm>
            <a:off x="992148" y="417040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미팅, 견적, 업체 등록, 계약 단계별 </a:t>
            </a:r>
            <a:r>
              <a:rPr lang="en-US" sz="15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실적을 연간·월간 목표 대비 누계</a:t>
            </a:r>
            <a:r>
              <a:rPr lang="en-US" sz="15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로 관리합니다.</a:t>
            </a:r>
            <a:endParaRPr lang="en-US" sz="1550" dirty="0">
              <a:latin typeface="+mn-ea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207496" y="2749153"/>
            <a:ext cx="4215408" cy="2572226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795" y="2947511"/>
            <a:ext cx="595313" cy="59531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69506" y="3111103"/>
            <a:ext cx="267891" cy="2678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05795" y="37411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+mj-ea"/>
                <a:ea typeface="+mj-ea"/>
                <a:cs typeface="Roboto Slab" pitchFamily="34" charset="-120"/>
              </a:rPr>
              <a:t>현장 추가 영업</a:t>
            </a:r>
            <a:endParaRPr lang="en-US" sz="1950" b="1" dirty="0">
              <a:latin typeface="+mj-ea"/>
              <a:ea typeface="+mj-ea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405795" y="4170402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계약 현장 기준 추가 영업 기회를 발굴</a:t>
            </a:r>
            <a:r>
              <a:rPr lang="en-US" sz="15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하고 </a:t>
            </a:r>
            <a:r>
              <a:rPr lang="en-US" sz="15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미팅-견적-계약 단계로</a:t>
            </a:r>
            <a:r>
              <a:rPr lang="en-US" sz="15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진행 현황을 추적합니다.</a:t>
            </a:r>
            <a:endParaRPr lang="en-US" sz="1550" dirty="0">
              <a:latin typeface="+mn-ea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9621203" y="2749153"/>
            <a:ext cx="4215289" cy="2572226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9561" y="2947511"/>
            <a:ext cx="595313" cy="595313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83272" y="3111103"/>
            <a:ext cx="267891" cy="26789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19561" y="37411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+mj-ea"/>
                <a:ea typeface="+mj-ea"/>
                <a:cs typeface="Roboto Slab" pitchFamily="34" charset="-120"/>
              </a:rPr>
              <a:t>현장 지원 업무</a:t>
            </a:r>
            <a:endParaRPr lang="en-US" sz="1950" b="1" dirty="0">
              <a:latin typeface="+mj-ea"/>
              <a:ea typeface="+mj-ea"/>
            </a:endParaRPr>
          </a:p>
        </p:txBody>
      </p:sp>
      <p:sp>
        <p:nvSpPr>
          <p:cNvPr id="17" name="Text 9"/>
          <p:cNvSpPr/>
          <p:nvPr/>
        </p:nvSpPr>
        <p:spPr>
          <a:xfrm>
            <a:off x="9819561" y="417040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실측, 업무협의, 영업 DB 발굴, AS 처리, 모델하우스 시공을</a:t>
            </a:r>
            <a:r>
              <a:rPr lang="en-US" sz="15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현장명 기준으로 체계적으로 관리합니다.</a:t>
            </a:r>
            <a:endParaRPr lang="en-US" sz="1550" dirty="0">
              <a:latin typeface="+mn-ea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93790" y="5544622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본 보강 개발은 일일 업무 일지를 핵심 입력 도구로 활용하여 건설사 영업, 현장 추가 영업, 현장 지원(AS·모델하우스 포함) 업무를 단계별로 관리하고, 각 업무 결과를 </a:t>
            </a:r>
            <a:r>
              <a:rPr lang="en-US" sz="15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현장 추가 영업 현황 메뉴에서 누계·모니터링할 수 있도록 구성</a:t>
            </a:r>
            <a:r>
              <a:rPr lang="en-US" sz="15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하는 것을 목적으로 합니다. 모든 영업 활동과 현장 지원 활동이 </a:t>
            </a:r>
            <a:r>
              <a:rPr lang="en-US" sz="15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하나의 통합된 데이터베이스로 연결되어 실시간 성과 분석이 가능</a:t>
            </a:r>
            <a:r>
              <a:rPr lang="en-US" sz="15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합니다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663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C00000"/>
                </a:solidFill>
                <a:latin typeface="+mj-ea"/>
                <a:ea typeface="+mj-ea"/>
                <a:cs typeface="Roboto Slab" pitchFamily="34" charset="-120"/>
              </a:rPr>
              <a:t>건설사 영업 </a:t>
            </a:r>
            <a:r>
              <a:rPr lang="en-US" sz="3900" b="1" dirty="0">
                <a:solidFill>
                  <a:srgbClr val="3257B8"/>
                </a:solidFill>
                <a:latin typeface="+mj-ea"/>
                <a:ea typeface="+mj-ea"/>
                <a:cs typeface="Roboto Slab" pitchFamily="34" charset="-120"/>
              </a:rPr>
              <a:t>프로세스</a:t>
            </a:r>
            <a:endParaRPr lang="en-US" sz="3900" b="1" dirty="0">
              <a:latin typeface="+mj-ea"/>
              <a:ea typeface="+mj-e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23549"/>
            <a:ext cx="6521410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27156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미팅 진행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5" name="Text 2"/>
          <p:cNvSpPr/>
          <p:nvPr/>
        </p:nvSpPr>
        <p:spPr>
          <a:xfrm>
            <a:off x="992148" y="3144917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건설사 담당자와의 초기 접촉 및 사업 기회 탐색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23549"/>
            <a:ext cx="6521410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3558" y="27156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견적 제출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8" name="Text 4"/>
          <p:cNvSpPr/>
          <p:nvPr/>
        </p:nvSpPr>
        <p:spPr>
          <a:xfrm>
            <a:off x="7513558" y="3144917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공사 범위 및 금액을 포함한 정식 견적서 제출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660815"/>
            <a:ext cx="6521410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2148" y="46529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업체 등록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92148" y="508218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건설사 협력업체 등록 절차 완료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660815"/>
            <a:ext cx="6521410" cy="7937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3558" y="46529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계약 완료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513558" y="508218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최종 계약 체결 및 프로젝트 착수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93790" y="557938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미팅 진행, 견적 제출, 업체 등록, 계약 완료 항목을 추가하여 각 영업 단계별 실적이 연간·월간 목표 대비 누계 기준으로 관리됩니다. 입력된 영업 활동은 건설사 영업 현황 화면에 자동 반영되며,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단계별 누적 건수와 연간 목표 대비 실행 현황, 월간 목표 대비 실행 현황을 한눈에 집계·관리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할 수 있습니다.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793790" y="6679644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48" y="6974919"/>
            <a:ext cx="248007" cy="19835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38513" y="692753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이를</a:t>
            </a:r>
            <a:r>
              <a:rPr lang="en-US" sz="1550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통해</a:t>
            </a:r>
            <a:r>
              <a:rPr lang="en-US" sz="1550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미팅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견적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계약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으로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이어지는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건설사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흐름과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실행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수준</a:t>
            </a:r>
            <a:r>
              <a:rPr lang="en-US" sz="1550" b="1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을</a:t>
            </a:r>
            <a:r>
              <a:rPr lang="en-US" sz="1550" b="1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목표</a:t>
            </a:r>
            <a:r>
              <a:rPr lang="en-US" sz="1550" b="1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대비</a:t>
            </a:r>
            <a:r>
              <a:rPr lang="en-US" sz="1550" b="1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기준으로</a:t>
            </a:r>
            <a:r>
              <a:rPr lang="en-US" sz="1550" b="1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명확하게</a:t>
            </a:r>
            <a:r>
              <a:rPr lang="en-US" sz="1550" b="1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확인</a:t>
            </a:r>
            <a:r>
              <a:rPr lang="en-US" sz="1550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할</a:t>
            </a:r>
            <a:r>
              <a:rPr lang="en-US" sz="1550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수 </a:t>
            </a:r>
            <a:r>
              <a:rPr lang="en-US" sz="1550" dirty="0" err="1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있습니다</a:t>
            </a:r>
            <a:r>
              <a:rPr lang="en-US" sz="1550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.</a:t>
            </a:r>
            <a:endParaRPr lang="en-US" sz="1550" dirty="0">
              <a:latin typeface="맑은 고딕 (제목)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647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C00000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현장 추가 영업 </a:t>
            </a:r>
            <a:r>
              <a:rPr lang="en-US" sz="39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Step 1</a:t>
            </a:r>
            <a:endParaRPr lang="en-US" sz="3900" b="1" dirty="0">
              <a:latin typeface="맑은 고딕 (제목)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055852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입력 및 자동 집계 구조</a:t>
            </a:r>
            <a:endParaRPr lang="en-US" sz="3100" dirty="0">
              <a:latin typeface="맑은 고딕 (제목)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0480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데이터 입력 프로세스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556516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일일 업무일지</a:t>
            </a:r>
            <a:r>
              <a:rPr lang="en-US" altLang="ko-KR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-&gt; </a:t>
            </a: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추가 영업</a:t>
            </a:r>
            <a:r>
              <a:rPr lang="en-US" altLang="ko-KR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	</a:t>
            </a: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endParaRPr lang="en-US" altLang="ko-KR" sz="1550" dirty="0">
              <a:solidFill>
                <a:srgbClr val="15213F"/>
              </a:solidFill>
              <a:latin typeface="맑은 고딕 (제목)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943469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추가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선택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후 </a:t>
            </a: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검색 </a:t>
            </a:r>
            <a:r>
              <a:rPr lang="ko-KR" alt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현장명</a:t>
            </a: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선택</a:t>
            </a:r>
            <a:r>
              <a:rPr lang="en-US" altLang="ko-KR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		</a:t>
            </a:r>
            <a:endParaRPr lang="en-US" sz="1550" dirty="0">
              <a:latin typeface="맑은 고딕 (제목)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330422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영업품목 업체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정보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저장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(</a:t>
            </a: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신규 개설</a:t>
            </a:r>
            <a:r>
              <a:rPr lang="en-US" altLang="ko-KR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)</a:t>
            </a:r>
          </a:p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717375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추가 영업 풀(DB)로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자동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이관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 (</a:t>
            </a: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신규 개설</a:t>
            </a:r>
            <a:r>
              <a:rPr lang="en-US" altLang="ko-KR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)</a:t>
            </a:r>
            <a:endParaRPr lang="en-US" sz="1550" dirty="0">
              <a:latin typeface="맑은 고딕 (제목)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2332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현장명 관리 규칙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5741789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추가 영업으로 입력된 항목은 </a:t>
            </a:r>
            <a:r>
              <a:rPr lang="en-US" sz="1550" b="1" dirty="0">
                <a:solidFill>
                  <a:srgbClr val="C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미성 ERP 현장명 </a:t>
            </a:r>
            <a:r>
              <a:rPr lang="en-US" sz="1550" b="1" dirty="0" err="1">
                <a:solidFill>
                  <a:srgbClr val="C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앞에</a:t>
            </a:r>
            <a:r>
              <a:rPr lang="en-US" sz="1550" b="1" dirty="0">
                <a:solidFill>
                  <a:srgbClr val="C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ko-KR" altLang="en-US" sz="1550" b="1" dirty="0">
                <a:solidFill>
                  <a:srgbClr val="C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 품목</a:t>
            </a:r>
            <a:r>
              <a:rPr lang="en-US" sz="1550" b="1" dirty="0" err="1">
                <a:solidFill>
                  <a:srgbClr val="C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명이</a:t>
            </a:r>
            <a:r>
              <a:rPr lang="en-US" sz="1550" b="1" dirty="0">
                <a:solidFill>
                  <a:srgbClr val="C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결합된 형태의 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현장명으로 관리되며, 건설사 영업 상세 정보 DB박스와 동일한 UI 구조를 적용한 '현장 추가 영업 상세 정보' DB박스를 신규 생성하여 선택 가능하도록 구성합니다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41149" y="30480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자동 집계 시스템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41149" y="3556516"/>
            <a:ext cx="560296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저장된 정보는 자동으로 "추가 영업 풀(DB)"로 이관되며, 건설사 영업 클릭 시 노출되는 DB박스와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동일한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UI의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"현장 추가 영업 DB박스"를 생성합니다.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41149" y="4687729"/>
            <a:ext cx="560296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ko-KR" altLang="en-US" sz="1400" dirty="0">
                <a:latin typeface="+mn-ea"/>
                <a:cs typeface="Roboto" panose="02000000000000000000" pitchFamily="2" charset="0"/>
              </a:rPr>
              <a:t>미성 </a:t>
            </a:r>
            <a:r>
              <a:rPr lang="en-US" altLang="ko-KR" sz="1400" dirty="0">
                <a:latin typeface="+mn-ea"/>
                <a:cs typeface="Roboto" panose="02000000000000000000" pitchFamily="2" charset="0"/>
              </a:rPr>
              <a:t>ERP </a:t>
            </a:r>
            <a:r>
              <a:rPr lang="ko-KR" altLang="en-US" sz="1400" dirty="0">
                <a:latin typeface="+mn-ea"/>
                <a:cs typeface="Roboto" panose="02000000000000000000" pitchFamily="2" charset="0"/>
              </a:rPr>
              <a:t>전체 계약 현장 대비 추가 영업이 진행 중인 현장 수를 </a:t>
            </a:r>
            <a:r>
              <a:rPr lang="ko-KR" altLang="en-US" sz="1400" dirty="0" err="1">
                <a:latin typeface="+mn-ea"/>
                <a:cs typeface="Roboto" panose="02000000000000000000" pitchFamily="2" charset="0"/>
              </a:rPr>
              <a:t>크롤링</a:t>
            </a:r>
            <a:r>
              <a:rPr lang="ko-KR" altLang="en-US" sz="1400" dirty="0">
                <a:latin typeface="+mn-ea"/>
                <a:cs typeface="Roboto" panose="02000000000000000000" pitchFamily="2" charset="0"/>
              </a:rPr>
              <a:t> 또는 </a:t>
            </a:r>
            <a:r>
              <a:rPr lang="en-US" altLang="ko-KR" sz="1400" dirty="0">
                <a:latin typeface="+mn-ea"/>
                <a:cs typeface="Roboto" panose="02000000000000000000" pitchFamily="2" charset="0"/>
              </a:rPr>
              <a:t>API </a:t>
            </a:r>
            <a:r>
              <a:rPr lang="ko-KR" altLang="en-US" sz="1400" dirty="0">
                <a:latin typeface="+mn-ea"/>
                <a:cs typeface="Roboto" panose="02000000000000000000" pitchFamily="2" charset="0"/>
              </a:rPr>
              <a:t>연동을 통해 집계하여</a:t>
            </a:r>
            <a:r>
              <a:rPr lang="en-US" altLang="ko-KR" sz="1400" dirty="0">
                <a:latin typeface="+mn-ea"/>
                <a:cs typeface="Roboto" panose="02000000000000000000" pitchFamily="2" charset="0"/>
              </a:rPr>
              <a:t>, </a:t>
            </a:r>
            <a:r>
              <a:rPr lang="ko-KR" altLang="en-US" sz="1400" dirty="0">
                <a:latin typeface="+mn-ea"/>
                <a:cs typeface="Roboto" panose="02000000000000000000" pitchFamily="2" charset="0"/>
              </a:rPr>
              <a:t>계약 현장 대비 현장 추가 영업 현황을 실시간으로 모니터링할 수 있습니다</a:t>
            </a:r>
            <a:endParaRPr lang="en-US" sz="1400" dirty="0">
              <a:latin typeface="+mn-ea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791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C00000"/>
                </a:solidFill>
                <a:latin typeface="+mn-ea"/>
                <a:cs typeface="Roboto Slab" pitchFamily="34" charset="-120"/>
              </a:rPr>
              <a:t>현장 추가 영업 </a:t>
            </a:r>
            <a:r>
              <a:rPr lang="en-US" sz="39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Step 2</a:t>
            </a:r>
            <a:endParaRPr lang="en-US" sz="39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37291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진행 현황 관리</a:t>
            </a:r>
            <a:endParaRPr lang="en-US" sz="3100" b="1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9310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45406"/>
            <a:ext cx="6422231" cy="22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3903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단계별 진행 상태 관리</a:t>
            </a:r>
            <a:endParaRPr lang="en-US" sz="1950" b="1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381952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추가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영업은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미팅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–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견적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–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계약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단계별로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진행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상태를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관리하며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,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각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단계별로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건설사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현황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메뉴와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동일한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집계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구조를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적용합니다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14379" y="29310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3245406"/>
            <a:ext cx="6422231" cy="228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14379" y="3390305"/>
            <a:ext cx="27564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현장 추가 영업 스코어 화면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414379" y="3819525"/>
            <a:ext cx="64222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신규 신설 예정인 '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추가 영업 스코어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' 화면에서 각 항목을 누계 기준으로 관리하여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전체 계약 현장 중 어느 단계에서 추가 영업이 얼마나 발생하고 있는지를 현황 중심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으로 확인할 수 있습니다.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93790" y="511933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13772"/>
            <a:ext cx="6422231" cy="228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790" y="55785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공사부 인계 실적 관리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93790" y="600777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공사부에서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영업으로 인계한 현장 수와 그중 실제 계약으로 성사된 현장 수를 월별·누계 기준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으로 집계합니다.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414379" y="511933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5413772"/>
            <a:ext cx="6422231" cy="228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14379" y="55785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성과 지표 통합 모니터링</a:t>
            </a:r>
            <a:endParaRPr lang="en-US" sz="1950" b="1" dirty="0"/>
          </a:p>
        </p:txBody>
      </p:sp>
      <p:sp>
        <p:nvSpPr>
          <p:cNvPr id="19" name="Text 13"/>
          <p:cNvSpPr/>
          <p:nvPr/>
        </p:nvSpPr>
        <p:spPr>
          <a:xfrm>
            <a:off x="7414379" y="600777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공사 인계 실적과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 성사 실적, 성사율을 함께 확인하여 현장 추가 영업의 전체 효율성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을 평가할 수 있습니다.</a:t>
            </a:r>
            <a:endParaRPr lang="en-US" sz="1550" dirty="0">
              <a:latin typeface="맑은 고딕 (제목)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274" y="461486"/>
            <a:ext cx="4195643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 err="1">
                <a:solidFill>
                  <a:srgbClr val="C00000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현장</a:t>
            </a:r>
            <a:r>
              <a:rPr lang="en-US" sz="3300" b="1" dirty="0">
                <a:solidFill>
                  <a:srgbClr val="C00000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300" b="1" dirty="0" err="1">
                <a:solidFill>
                  <a:srgbClr val="C00000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지원</a:t>
            </a:r>
            <a:r>
              <a:rPr lang="en-US" sz="3300" b="1" dirty="0">
                <a:solidFill>
                  <a:srgbClr val="C00000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300" b="1" dirty="0" err="1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업무</a:t>
            </a:r>
            <a:r>
              <a:rPr lang="en-US" sz="33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300" b="1" dirty="0" err="1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구성</a:t>
            </a:r>
            <a:endParaRPr lang="en-US" sz="3300" b="1" dirty="0">
              <a:latin typeface="맑은 고딕 (제목)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71274" y="1321594"/>
            <a:ext cx="13287851" cy="1012627"/>
          </a:xfrm>
          <a:prstGeom prst="roundRect">
            <a:avLst>
              <a:gd name="adj" fmla="val 248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94134" y="1344454"/>
            <a:ext cx="671274" cy="966907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03923" y="1670566"/>
            <a:ext cx="251698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>
              <a:latin typeface="맑은 고딕 (제목)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33168" y="1512213"/>
            <a:ext cx="2097762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실측</a:t>
            </a:r>
            <a:endParaRPr lang="en-US" sz="1650" b="1" dirty="0">
              <a:latin typeface="맑은 고딕 (제목)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33168" y="1874996"/>
            <a:ext cx="12235339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실측 작업 진행 및 데이터 수집</a:t>
            </a:r>
            <a:endParaRPr lang="en-US" sz="1300" dirty="0">
              <a:latin typeface="맑은 고딕 (제목)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1274" y="2501979"/>
            <a:ext cx="13287851" cy="1012627"/>
          </a:xfrm>
          <a:prstGeom prst="roundRect">
            <a:avLst>
              <a:gd name="adj" fmla="val 248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694134" y="2524839"/>
            <a:ext cx="671274" cy="966907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03923" y="2850952"/>
            <a:ext cx="251698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>
              <a:latin typeface="맑은 고딕 (제목)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33168" y="2692598"/>
            <a:ext cx="2097762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업무협의</a:t>
            </a:r>
            <a:endParaRPr lang="en-US" sz="1650" b="1" dirty="0">
              <a:latin typeface="맑은 고딕 (제목)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33168" y="3055382"/>
            <a:ext cx="12235339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관계자와 공사 관련 협의 진행</a:t>
            </a:r>
            <a:endParaRPr lang="en-US" sz="1300" dirty="0">
              <a:latin typeface="맑은 고딕 (제목)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1274" y="3682365"/>
            <a:ext cx="13287851" cy="1012627"/>
          </a:xfrm>
          <a:prstGeom prst="roundRect">
            <a:avLst>
              <a:gd name="adj" fmla="val 248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94134" y="3705225"/>
            <a:ext cx="671274" cy="966907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03923" y="4031337"/>
            <a:ext cx="251698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>
              <a:latin typeface="맑은 고딕 (제목)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33168" y="3872984"/>
            <a:ext cx="2097762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영업 DB 발굴</a:t>
            </a:r>
            <a:endParaRPr lang="en-US" sz="1650" b="1" dirty="0">
              <a:latin typeface="맑은 고딕 (제목)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33168" y="4235767"/>
            <a:ext cx="12235339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현장에서 신규 영업 기회 발굴 및 인계</a:t>
            </a:r>
            <a:endParaRPr lang="en-US" sz="1300" dirty="0">
              <a:latin typeface="맑은 고딕 (제목)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1274" y="4862751"/>
            <a:ext cx="13287851" cy="1012627"/>
          </a:xfrm>
          <a:prstGeom prst="roundRect">
            <a:avLst>
              <a:gd name="adj" fmla="val 248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94134" y="4885611"/>
            <a:ext cx="671274" cy="966907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03923" y="5211723"/>
            <a:ext cx="251698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4</a:t>
            </a:r>
            <a:endParaRPr lang="en-US" sz="1950" dirty="0">
              <a:latin typeface="맑은 고딕 (제목)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33168" y="5053370"/>
            <a:ext cx="2097762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AS 진행</a:t>
            </a:r>
            <a:endParaRPr lang="en-US" sz="1650" b="1" dirty="0">
              <a:latin typeface="맑은 고딕 (제목)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33168" y="5416153"/>
            <a:ext cx="12235339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유상</a:t>
            </a: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/</a:t>
            </a:r>
            <a:r>
              <a:rPr lang="en-US" sz="130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무상</a:t>
            </a: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AS </a:t>
            </a:r>
            <a:r>
              <a:rPr lang="en-US" sz="130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접수</a:t>
            </a: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및 </a:t>
            </a:r>
            <a:r>
              <a:rPr lang="en-US" sz="130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처리</a:t>
            </a: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관리</a:t>
            </a:r>
            <a:endParaRPr lang="en-US" sz="1300" dirty="0">
              <a:latin typeface="맑은 고딕 (제목)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1274" y="6043136"/>
            <a:ext cx="13287851" cy="1012627"/>
          </a:xfrm>
          <a:prstGeom prst="roundRect">
            <a:avLst>
              <a:gd name="adj" fmla="val 248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94134" y="6065996"/>
            <a:ext cx="671274" cy="966907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03923" y="6392108"/>
            <a:ext cx="251698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5</a:t>
            </a:r>
            <a:endParaRPr lang="en-US" sz="1950" dirty="0">
              <a:latin typeface="맑은 고딕 (제목)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33168" y="6233755"/>
            <a:ext cx="2097762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모델하우스 시공</a:t>
            </a:r>
            <a:endParaRPr lang="en-US" sz="1650" b="1" dirty="0">
              <a:latin typeface="맑은 고딕 (제목)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33168" y="6596539"/>
            <a:ext cx="12235339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모델하우스 시공 프로젝트 진행</a:t>
            </a:r>
            <a:endParaRPr lang="en-US" sz="1300" dirty="0">
              <a:latin typeface="맑은 고딕 (제목)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1274" y="7244477"/>
            <a:ext cx="13287851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지원 페이지에서는 실측, 업무협의, 영업 DB 발굴, AS 진행, 모델하우스 시공 항목을 선택할 수 있도록 구성합니다. </a:t>
            </a:r>
            <a:r>
              <a:rPr lang="en-US" sz="1300" dirty="0">
                <a:solidFill>
                  <a:srgbClr val="1D4241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모든 </a:t>
            </a:r>
            <a:r>
              <a:rPr lang="en-US" sz="1300" b="1" dirty="0">
                <a:solidFill>
                  <a:srgbClr val="1D4241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지원 업무는 현장명을 기준으로 등록·관리</a:t>
            </a:r>
            <a:r>
              <a:rPr lang="en-US" sz="130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되며</a:t>
            </a: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, 각 활동이 </a:t>
            </a:r>
            <a:r>
              <a:rPr lang="en-US" sz="130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추가 영업 풀 및 현장 추가 영업 현황과 자동으로 연계</a:t>
            </a:r>
            <a:r>
              <a:rPr lang="en-US" sz="13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됩니다.</a:t>
            </a:r>
            <a:endParaRPr lang="en-US" sz="1300" dirty="0">
              <a:latin typeface="맑은 고딕 (제목)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995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영업 DB 발굴 프로세스</a:t>
            </a:r>
            <a:endParaRPr lang="en-US" sz="3900" b="1" dirty="0">
              <a:latin typeface="맑은 고딕 (제목)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34528"/>
            <a:ext cx="6422231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2728198"/>
            <a:ext cx="38884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현장 지원 화면에서 영업 DB 발굴 클릭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5" name="Text 2"/>
          <p:cNvSpPr/>
          <p:nvPr/>
        </p:nvSpPr>
        <p:spPr>
          <a:xfrm>
            <a:off x="992148" y="3157418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방문 중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발굴한 잠재 영업 기회를 시스템에 등록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하기 위해 영업 DB 발굴 항목을 선택합니다.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1636871"/>
            <a:ext cx="6422231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2737" y="2430542"/>
            <a:ext cx="27564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업체명 및 담당자 정보 입력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8" name="Text 4"/>
          <p:cNvSpPr/>
          <p:nvPr/>
        </p:nvSpPr>
        <p:spPr>
          <a:xfrm>
            <a:off x="7612737" y="2859762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업체명, 담당자 연락처를 입력하고, 어느 영업담당자에게 인계할지를 지정하여 저장합니다.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86870"/>
            <a:ext cx="6422231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2148" y="5280541"/>
            <a:ext cx="25282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추가 영업 풀로 </a:t>
            </a:r>
            <a:r>
              <a:rPr lang="en-US" sz="1950" b="1" dirty="0" err="1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자동</a:t>
            </a: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1950" b="1" dirty="0" err="1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이관</a:t>
            </a: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(</a:t>
            </a:r>
            <a:r>
              <a:rPr lang="ko-KR" alt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신규 신설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92148" y="5709761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입력된 DB는 추가 영업 풀로 자동 이관되며,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지정된 영업담당자 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기준으로 관리가 시작됩니다.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4189214"/>
            <a:ext cx="6422231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12737" y="49828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담당자별 진행 현황 관리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612737" y="5412105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"현장 추가 영업 현황" 메뉴에서 담당자별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미팅–견적–계약 진행 현황과 성사 현황이 누계 기준으로 관리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됩니다.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793790" y="6766441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48" y="7061716"/>
            <a:ext cx="248007" cy="19835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38513" y="7014329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이를 통해 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현장에서 발굴된 영업 기회가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영업팀 전체가 아닌 특정 담당자 기준으로 진행·관리</a:t>
            </a:r>
            <a:r>
              <a:rPr lang="en-US" sz="1550" b="1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되는 구조를 만들어 개인별 성과 추적</a:t>
            </a:r>
            <a:r>
              <a:rPr lang="en-US" sz="1550" dirty="0">
                <a:solidFill>
                  <a:srgbClr val="000000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이 가능합니다.</a:t>
            </a:r>
            <a:endParaRPr lang="en-US" sz="1550" dirty="0">
              <a:latin typeface="맑은 고딕 (제목)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96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AS 관리 시스템</a:t>
            </a:r>
            <a:endParaRPr lang="en-US" sz="3900" b="1" dirty="0">
              <a:latin typeface="맑은 고딕 (제목)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329333"/>
            <a:ext cx="450913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자동 판정 및 유상 전환 구조</a:t>
            </a:r>
            <a:endParaRPr lang="en-US" sz="3100" b="1" dirty="0">
              <a:latin typeface="맑은 고딕 (제목)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3214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AS 자동 판정 기준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829997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AS는 관리부에서 접수하며,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업무일지</a:t>
            </a: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의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ko-KR" alt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추가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화면에서 "AS 등록" 버튼을 통해 추가 등록할 수 있습니다.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AS 등록 시 유상 AS / 무상 AS 선택 기능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을 제공합니다.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005858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4005858"/>
            <a:ext cx="91440" cy="158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3588" y="42270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무상 AS 판정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83588" y="4735592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미성 ERP 계약 기간 기준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6개월·24개월 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이내 발생 건은 무상 AS로 자동 분류됩니다.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790247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5790247"/>
            <a:ext cx="91440" cy="158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3588" y="60114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유상 AS 판정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083588" y="6519982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계약 기간 외 발생 건은 유상 AS로 자동 분류되며, 현장명 검색 시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유상·무상 AS 대상 여부가 즉시 표시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됩니다.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64874" y="2321481"/>
            <a:ext cx="25886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무상 AS → 유상 AS 전환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564874" y="282999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무상 AS로 분류된 건은 관리부 또는 담당자가 '유상 AS 전환' 버튼을 클릭하여 전환 사유와 유상 AS 금액을 입력한 후 유상 AS로 전환할 수 있습니다.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557254" y="381190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전환된 건은 "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추가 영업 현황" 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메뉴에서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무상 AS → 유상 AS 전환 건수로 별도 누계 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관리되며,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무상 AS 기한 내 발생한 AS를 유상으로 진행해야 하는 경우에도 동일한 프로세스를 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적용합니다.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557254" y="52994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AS 처리 단계 관리</a:t>
            </a:r>
            <a:endParaRPr lang="en-US" sz="1950" dirty="0">
              <a:latin typeface="맑은 고딕 (제목)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557254" y="579024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AS는 접수 → 처리 → 완료 단계로 이력을 관리하며, 현장 기준으로 AS 완료 확인서를 첨부하여 관리합니다.</a:t>
            </a:r>
            <a:endParaRPr lang="en-US" sz="1550" dirty="0">
              <a:latin typeface="맑은 고딕 (제목)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209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AS 처리 현황 상세 관리</a:t>
            </a:r>
            <a:endParaRPr lang="en-US" sz="3900" b="1" dirty="0">
              <a:latin typeface="맑은 고딕 (제목)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469005"/>
            <a:ext cx="446484" cy="44648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68204" y="350621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1</a:t>
            </a:r>
            <a:endParaRPr lang="en-US" sz="2300" dirty="0">
              <a:latin typeface="맑은 고딕 (제목)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38632" y="35372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처리 대기 건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38632" y="3966448"/>
            <a:ext cx="353734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AS 접수가 완료되었으나 아직 현장 작업이 시작되지 않은 건으로, 우선순위에 따라 처리 일정을 관리합니다.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23986" y="3469005"/>
            <a:ext cx="446484" cy="44648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298400" y="350621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2</a:t>
            </a:r>
            <a:endParaRPr lang="en-US" sz="2300" dirty="0">
              <a:latin typeface="맑은 고딕 (제목)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68829" y="35372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처리 완료 건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68829" y="3966448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작업이 완료되고 담당자가 처리 완료로 상태를 변경한 건으로, 고객 확인 대기 상태입니다.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54302" y="3469005"/>
            <a:ext cx="446484" cy="44648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728716" y="350621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3</a:t>
            </a:r>
            <a:endParaRPr lang="en-US" sz="2300" dirty="0">
              <a:latin typeface="맑은 고딕 (제목)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299144" y="3537228"/>
            <a:ext cx="25282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하자 처리 완료증 접수 건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99144" y="3966448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고객으로부터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최종 하자 처리 완료증이 접수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되어 AS 프로세스가 완전히 종료된 건입니다.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514230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각 단계별 건수는 누계 기준으로 집계·관리되며,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AS 접수 시 MSG를 통해 유입된 건과 일반 접수 건을 구분하여 </a:t>
            </a:r>
            <a:r>
              <a:rPr lang="en-US" sz="1550" dirty="0">
                <a:latin typeface="맑은 고딕 (제목)"/>
                <a:ea typeface="Roboto" pitchFamily="34" charset="-122"/>
                <a:cs typeface="Roboto" pitchFamily="34" charset="-120"/>
              </a:rPr>
              <a:t>MSG 유입 AS 건수 역시 누계 기준으로 함께 관리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합니다. 이를 통해 고객 문의 채널별 AS 발생 현황을 분석하고 고객 응대 품질을 개선할 수 있습니다.</a:t>
            </a:r>
            <a:endParaRPr lang="en-US" sz="1550" dirty="0">
              <a:latin typeface="맑은 고딕 (제목)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2140"/>
            <a:ext cx="597062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현장 추가 영업 현황 모니터링</a:t>
            </a:r>
            <a:endParaRPr lang="en-US" sz="3900" b="1" dirty="0">
              <a:latin typeface="맑은 고딕 (제목)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3151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통합 관리 지표</a:t>
            </a:r>
            <a:endParaRPr lang="en-US" sz="3100" b="1" dirty="0">
              <a:latin typeface="맑은 고딕 (제목)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425303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1694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영업 단계별 현황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598664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미팅 진행 현장 수, 견적 진행 현장 수, 계약 진행·완료 현장 수를 단계별로 집계하여 추가 영업 진행도를 파악합니다.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2425303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144" y="31694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AS 관리 현황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9" name="Text 5"/>
          <p:cNvSpPr/>
          <p:nvPr/>
        </p:nvSpPr>
        <p:spPr>
          <a:xfrm>
            <a:off x="7439144" y="3598664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유상 AS / 무상 AS 접수 현황, 무상 AS → 유상 AS 전환 현황, 유상 AS 금액 누계를 실시간 모니터링합니다.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630579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3747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AS 처리 프로세스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93790" y="5803940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AS 처리 대기·완료·하자 처리 완료증 접수 현황을 단계별로 관리하여 AS 처리 효율을 분석합니다.</a:t>
            </a:r>
            <a:endParaRPr lang="en-US" sz="1550" dirty="0">
              <a:latin typeface="맑은 고딕 (제목)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9144" y="4630579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9144" y="53747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MSG 유입 AS</a:t>
            </a:r>
            <a:endParaRPr lang="en-US" sz="1950" b="1" dirty="0">
              <a:latin typeface="맑은 고딕 (제목)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439144" y="5803940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MSG를 통해 유입된 AS 누계 현황을 별도 집계하여 고객 문의 채널별 AS 발생 패턴을 분석합니다.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93790" y="666226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"현장 추가 영업 현황(신규 추가)" 메뉴에서는 추가 영업 풀에 등록된 모든 현장을 기준으로 위 지표들을 월별·누계 기준의 현황 지표로 집계·관리하도록 구성합니다. 이를 통해 점수나 스코어 개념 없이 </a:t>
            </a:r>
            <a:r>
              <a:rPr lang="en-US" sz="1550" dirty="0">
                <a:solidFill>
                  <a:srgbClr val="15213F"/>
                </a:solidFill>
                <a:highlight>
                  <a:srgbClr val="FBFCFE"/>
                </a:highlight>
                <a:latin typeface="맑은 고딕 (제목)"/>
                <a:ea typeface="Roboto" pitchFamily="34" charset="-122"/>
                <a:cs typeface="Roboto" pitchFamily="34" charset="-120"/>
              </a:rPr>
              <a:t>현장 기준 실행 현황과 추가 영업·AS 운영 효율을 직관적으로 모니터링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할 수 있습니다.</a:t>
            </a:r>
            <a:endParaRPr lang="en-US" sz="1550" dirty="0">
              <a:latin typeface="맑은 고딕 (제목)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8490"/>
            <a:ext cx="55141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일일 업무 일지 수정 가이드</a:t>
            </a:r>
            <a:endParaRPr lang="en-US" sz="3900" b="1" dirty="0">
              <a:latin typeface="맑은 고딕 (제목)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90786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영업 품목 관리</a:t>
            </a:r>
            <a:endParaRPr lang="en-US" sz="3100" dirty="0">
              <a:latin typeface="맑은 고딕 (제목)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4358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일일 업무 일지 수정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요청은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품목 관리를 중심으로 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건설사 영업, 현장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추가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, </a:t>
            </a:r>
            <a:r>
              <a:rPr lang="en-US" altLang="ko-KR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</a:t>
            </a:r>
            <a:r>
              <a:rPr lang="en-US" altLang="ko-KR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지원</a:t>
            </a:r>
            <a:r>
              <a:rPr lang="en-US" altLang="ko-KR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550" b="1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업무의</a:t>
            </a:r>
            <a:r>
              <a:rPr lang="en-US" altLang="ko-KR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입력</a:t>
            </a:r>
            <a:r>
              <a:rPr lang="en-US" altLang="ko-KR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프로세스를</a:t>
            </a:r>
            <a:r>
              <a:rPr lang="en-US" altLang="ko-KR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55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개선합니다</a:t>
            </a:r>
            <a:r>
              <a:rPr lang="en-US" sz="155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altLang="ko-KR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.</a:t>
            </a:r>
            <a:endParaRPr lang="en-US" sz="1550" dirty="0">
              <a:latin typeface="맑은 고딕 (제목)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4242435"/>
            <a:ext cx="4215289" cy="1778556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92148" y="44407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+mn-ea"/>
                <a:cs typeface="Roboto Slab" pitchFamily="34" charset="-120"/>
              </a:rPr>
              <a:t>입력 항목 확장</a:t>
            </a:r>
            <a:endParaRPr lang="en-US" sz="1950" b="1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992148" y="4749418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기존 일일 업무 일지에 건설사 </a:t>
            </a:r>
            <a:r>
              <a:rPr lang="en-US" sz="1550" dirty="0" err="1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영업</a:t>
            </a: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단계</a:t>
            </a: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   (미팅, 견적, 업체 등록, 계약), 현장 추가 영업 정보, 현장 지원 활동 항목을 추가합니다.</a:t>
            </a:r>
            <a:endParaRPr lang="en-US" sz="1550" dirty="0">
              <a:latin typeface="맑은 고딕 (본문)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07437" y="4242435"/>
            <a:ext cx="4215408" cy="1778556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05795" y="44407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자동 연계 구조</a:t>
            </a:r>
            <a:endParaRPr lang="en-US" sz="1950" b="1" dirty="0">
              <a:latin typeface="맑은 고딕 (본문)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05795" y="4749419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일일 업무 일지에 입력된 데이터가 </a:t>
            </a:r>
            <a:r>
              <a:rPr lang="en-US" sz="15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추가 영업 풀(DB)/</a:t>
            </a:r>
            <a:r>
              <a:rPr lang="ko-KR" altLang="en-US" sz="15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신규</a:t>
            </a:r>
            <a:r>
              <a:rPr lang="en-US" sz="15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, 건설사 영업 현황, 현장 추가 영업 </a:t>
            </a:r>
            <a:r>
              <a:rPr lang="en-US" sz="1550" b="1" dirty="0" err="1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현황</a:t>
            </a:r>
            <a:r>
              <a:rPr lang="en-US" sz="15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b="1" dirty="0" err="1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메뉴</a:t>
            </a:r>
            <a:r>
              <a:rPr lang="en-US" sz="15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/</a:t>
            </a:r>
            <a:r>
              <a:rPr lang="ko-KR" altLang="en-US" sz="15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신규 </a:t>
            </a: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로 자동 연계되도록 구성합니다.</a:t>
            </a:r>
            <a:endParaRPr lang="en-US" sz="1550" dirty="0">
              <a:latin typeface="맑은 고딕 (본문)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21203" y="4242435"/>
            <a:ext cx="4215289" cy="1778556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819561" y="44407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실시간 집계</a:t>
            </a:r>
            <a:endParaRPr lang="en-US" sz="1950" b="1" dirty="0">
              <a:latin typeface="맑은 고딕 (본문)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19560" y="4749417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입력된 모든 활동이 </a:t>
            </a:r>
            <a:r>
              <a:rPr lang="en-US" sz="15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월별·누계 기준으로 실시간 집계</a:t>
            </a: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되어 영업 및 현장 관리 효율을 즉시 파악할 수 있습니다.</a:t>
            </a:r>
            <a:endParaRPr lang="en-US" sz="1550" dirty="0">
              <a:latin typeface="맑은 고딕 (본문)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9605"/>
            <a:ext cx="630376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57B8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일일업무일지 추가 개발 모식도</a:t>
            </a:r>
            <a:endParaRPr lang="en-US" sz="3900" b="1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85" y="1666518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4546" y="2873243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25394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ko-KR" altLang="en-US" sz="13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현장 영업 풀</a:t>
            </a:r>
            <a:r>
              <a:rPr lang="en-US" altLang="ko-KR" sz="13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(DB)</a:t>
            </a:r>
            <a:endParaRPr lang="en-US" sz="1350" b="1" dirty="0">
              <a:latin typeface="맑은 고딕 (제목)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7120" y="2874466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25394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ko-KR" altLang="en-US" sz="13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건설사 </a:t>
            </a:r>
            <a:r>
              <a:rPr lang="en-US" sz="1350" b="1" dirty="0" err="1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영업</a:t>
            </a:r>
            <a:r>
              <a:rPr lang="en-US" sz="13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 풀(DB)</a:t>
            </a:r>
            <a:endParaRPr lang="en-US" sz="1350" b="1" dirty="0">
              <a:latin typeface="맑은 고딕 (제목)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0307" y="2874466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25394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현장 추가 영업</a:t>
            </a:r>
            <a:endParaRPr lang="en-US" sz="1350" b="1" dirty="0">
              <a:latin typeface="맑은 고딕 (제목)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3493" y="2874466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25394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건설사 영업</a:t>
            </a:r>
            <a:endParaRPr lang="en-US" sz="1350" b="1" dirty="0">
              <a:latin typeface="맑은 고딕 (제목)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23636" y="2874466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25394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일일 업무</a:t>
            </a:r>
            <a:endParaRPr lang="en-US" sz="1350" b="1" dirty="0">
              <a:latin typeface="맑은 고딕 (제목)"/>
            </a:endParaRPr>
          </a:p>
        </p:txBody>
      </p:sp>
      <p:sp>
        <p:nvSpPr>
          <p:cNvPr id="14" name="Text 6"/>
          <p:cNvSpPr/>
          <p:nvPr/>
        </p:nvSpPr>
        <p:spPr>
          <a:xfrm>
            <a:off x="793790" y="6627257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일일 업무 일지는 모든 영업 및 현장 지원 활동의 출발점이 됩니다. 입력된 데이터는 자동으로 각 관리 메뉴로 분산·집계되어 </a:t>
            </a:r>
            <a:r>
              <a:rPr lang="en-US" sz="1550" b="1" dirty="0">
                <a:latin typeface="맑은 고딕 (제목)"/>
                <a:ea typeface="Roboto" pitchFamily="34" charset="-122"/>
                <a:cs typeface="Roboto" pitchFamily="34" charset="-120"/>
              </a:rPr>
              <a:t>계획 → 실행 → 결과 확인이 하나의 통합된 구조</a:t>
            </a:r>
            <a:r>
              <a:rPr lang="en-US" sz="155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로 관리됩니다. 이를 통해 담당자는 일일 업무 일지 하나만 성실히 작성하면 모든 성과 지표가 자동으로 업데이트되는 효율적인 업무 환경을 경험할 수 있습니다.</a:t>
            </a:r>
            <a:endParaRPr lang="en-US" sz="1550" dirty="0">
              <a:latin typeface="맑은 고딕 (제목)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533876"/>
            <a:ext cx="5393769" cy="606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주간 업무 계획 수정 가이드</a:t>
            </a:r>
            <a:endParaRPr lang="en-US" sz="3800" b="1" dirty="0">
              <a:latin typeface="맑은 고딕 (제목)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6526" y="1625918"/>
            <a:ext cx="247364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주간 업무 계획 작성 목적</a:t>
            </a:r>
            <a:endParaRPr lang="en-US" sz="1900" b="1" dirty="0">
              <a:latin typeface="맑은 고딕 (제목)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6526" y="2123242"/>
            <a:ext cx="7656909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주간 업무 계획은 일일 업무 일지 및 현장 추가 영업 현황 관리 기준에 맞춰 이번 주에 반드시 실행해야 할 영업·현장·지원 활동 목표를 사전에 정의하는 것을 목적으로 합니다.</a:t>
            </a:r>
            <a:endParaRPr lang="en-US" sz="1500" dirty="0">
              <a:latin typeface="맑은 고딕 (제목)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6526" y="2919174"/>
            <a:ext cx="7656909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주간 계획에 입력된 목표는 </a:t>
            </a:r>
            <a:r>
              <a:rPr lang="en-US" sz="150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주간 실행 → 일일 업무 일지 입력 → 현장 추가 영업 현황 메뉴 누계 집계</a:t>
            </a: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로 자연스럽게 연결되도록 설계됩니다.</a:t>
            </a:r>
            <a:endParaRPr lang="en-US" sz="1500" dirty="0">
              <a:latin typeface="맑은 고딕 (제목)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6526" y="3734514"/>
            <a:ext cx="2426970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257B8"/>
                </a:solidFill>
                <a:latin typeface="맑은 고딕 (제목)"/>
                <a:ea typeface="Roboto Slab" pitchFamily="34" charset="-122"/>
                <a:cs typeface="Roboto Slab" pitchFamily="34" charset="-120"/>
              </a:rPr>
              <a:t>메뉴 구성</a:t>
            </a:r>
            <a:endParaRPr lang="en-US" sz="1900" b="1" dirty="0">
              <a:latin typeface="맑은 고딕 (제목)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6526" y="4231838"/>
            <a:ext cx="7656909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건설사 영업:</a:t>
            </a: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미팅, 견적, 업체 등록, 계약 목표 설정</a:t>
            </a:r>
            <a:endParaRPr lang="en-US" sz="1500" dirty="0">
              <a:latin typeface="맑은 고딕 (제목)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6526" y="4610338"/>
            <a:ext cx="7656909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현장 추가 영업:</a:t>
            </a: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ko-KR" alt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기존</a:t>
            </a: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ko-KR" alt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계약 현장에서</a:t>
            </a: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영업</a:t>
            </a: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대상</a:t>
            </a: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현장 </a:t>
            </a:r>
            <a:r>
              <a:rPr lang="en-US" sz="150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발굴</a:t>
            </a: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 err="1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목표</a:t>
            </a:r>
            <a:r>
              <a:rPr 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, </a:t>
            </a:r>
            <a:r>
              <a:rPr lang="ko-KR" altLang="en-US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및 신규 현장 영업</a:t>
            </a:r>
            <a:r>
              <a:rPr lang="en-US" altLang="ko-KR" sz="1500" dirty="0">
                <a:solidFill>
                  <a:srgbClr val="15213F"/>
                </a:solidFill>
                <a:latin typeface="맑은 고딕 (제목)"/>
                <a:ea typeface="Roboto" pitchFamily="34" charset="-122"/>
                <a:cs typeface="Roboto" pitchFamily="34" charset="-120"/>
              </a:rPr>
              <a:t>	</a:t>
            </a:r>
            <a:endParaRPr lang="en-US" sz="1500" dirty="0">
              <a:latin typeface="맑은 고딕 (제목)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6526" y="4988838"/>
            <a:ext cx="7656909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현장 지원:</a:t>
            </a:r>
            <a:r>
              <a:rPr lang="en-US" sz="15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실측, 업무협의, 영업 DB 발굴, AS 진행, 모델하우스 시공 목표</a:t>
            </a:r>
            <a:endParaRPr lang="en-US" sz="15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14686" y="1625918"/>
            <a:ext cx="25728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계획 → 실행 → 결과 흐름</a:t>
            </a:r>
            <a:endParaRPr lang="en-US" sz="1900" b="1" dirty="0">
              <a:latin typeface="맑은 고딕 (본문)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914686" y="2147530"/>
            <a:ext cx="194072" cy="1196102"/>
          </a:xfrm>
          <a:prstGeom prst="roundRect">
            <a:avLst>
              <a:gd name="adj" fmla="val 1500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302829" y="2341602"/>
            <a:ext cx="2426970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주간 목표 설정</a:t>
            </a:r>
            <a:endParaRPr lang="en-US" sz="1900" b="1" dirty="0">
              <a:latin typeface="맑은 고딕 (본문)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302829" y="2838926"/>
            <a:ext cx="4558546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이번 주 활동 목표를 수량·현장·내용 기준으로 작성</a:t>
            </a:r>
            <a:endParaRPr lang="en-US" sz="1500" dirty="0">
              <a:latin typeface="맑은 고딕 (본문)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05913" y="3537704"/>
            <a:ext cx="194072" cy="1196102"/>
          </a:xfrm>
          <a:prstGeom prst="roundRect">
            <a:avLst>
              <a:gd name="adj" fmla="val 1500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594056" y="3731776"/>
            <a:ext cx="2426970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일일 실행 입력</a:t>
            </a:r>
            <a:endParaRPr lang="en-US" sz="1900" b="1" dirty="0">
              <a:latin typeface="맑은 고딕 (본문)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94056" y="4229100"/>
            <a:ext cx="4267319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일일 업무 일지에 실제 활동 내용 기록</a:t>
            </a:r>
            <a:endParaRPr lang="en-US" sz="1500" dirty="0">
              <a:latin typeface="맑은 고딕 (본문)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497139" y="4927878"/>
            <a:ext cx="194072" cy="1506736"/>
          </a:xfrm>
          <a:prstGeom prst="roundRect">
            <a:avLst>
              <a:gd name="adj" fmla="val 1500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885283" y="5121950"/>
            <a:ext cx="2426970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자동 누계 집계</a:t>
            </a:r>
            <a:endParaRPr lang="en-US" sz="1900" b="1" dirty="0">
              <a:latin typeface="맑은 고딕 (본문)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85283" y="5619274"/>
            <a:ext cx="3976092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현장 추가 영업 현황 메뉴에서 월별·누계 기준 모니터링</a:t>
            </a:r>
            <a:endParaRPr lang="en-US" sz="1500" dirty="0">
              <a:latin typeface="맑은 고딕 (본문)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6526" y="6871335"/>
            <a:ext cx="13077349" cy="824865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98" y="7164943"/>
            <a:ext cx="242649" cy="1940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07319" y="7113865"/>
            <a:ext cx="12252484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목표는 반드시 </a:t>
            </a:r>
            <a:r>
              <a:rPr lang="en-US" sz="150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현장 기준 또는 건수 기준</a:t>
            </a:r>
            <a:r>
              <a:rPr lang="en-US" sz="1500" b="1" dirty="0">
                <a:solidFill>
                  <a:srgbClr val="000000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으로 작성하여 정량적 평가가 </a:t>
            </a:r>
            <a:r>
              <a:rPr lang="en-US" sz="1500" dirty="0">
                <a:solidFill>
                  <a:srgbClr val="000000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가능하도록 합니다.</a:t>
            </a:r>
            <a:endParaRPr lang="en-US" sz="1500" dirty="0">
              <a:latin typeface="맑은 고딕 (본문)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3707"/>
            <a:ext cx="65503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주요 현황 관리 메뉴 수정 가이드</a:t>
            </a:r>
            <a:endParaRPr lang="en-US" sz="3900" b="1" dirty="0">
              <a:latin typeface="맑은 고딕 (본문)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050619"/>
            <a:ext cx="13042821" cy="2286953"/>
          </a:xfrm>
          <a:prstGeom prst="roundRect">
            <a:avLst>
              <a:gd name="adj" fmla="val 130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3790" y="3050619"/>
            <a:ext cx="4347567" cy="1143476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3"/>
          <p:cNvSpPr/>
          <p:nvPr/>
        </p:nvSpPr>
        <p:spPr>
          <a:xfrm>
            <a:off x="992148" y="32489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영업 현장관리 실행현황</a:t>
            </a:r>
            <a:endParaRPr lang="en-US" sz="1950" b="1" dirty="0">
              <a:latin typeface="맑은 고딕 (본문)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48" y="3678198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총 5군데 수정 요청 적용</a:t>
            </a:r>
            <a:endParaRPr lang="en-US" sz="1550" dirty="0">
              <a:latin typeface="맑은 고딕 (본문)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41357" y="3050619"/>
            <a:ext cx="4347567" cy="114347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141357" y="3050619"/>
            <a:ext cx="22860" cy="1143476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39715" y="3248978"/>
            <a:ext cx="26947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월별매출 및 목표달성 현황</a:t>
            </a:r>
            <a:endParaRPr lang="en-US" sz="1950" b="1" dirty="0">
              <a:latin typeface="맑은 고딕 (본문)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39715" y="3678198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총 7군데 수정 요청 적용</a:t>
            </a:r>
            <a:endParaRPr lang="en-US" sz="1550" dirty="0">
              <a:latin typeface="맑은 고딕 (본문)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488924" y="3050619"/>
            <a:ext cx="4347567" cy="114347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488924" y="3050619"/>
            <a:ext cx="22860" cy="1143476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687282" y="3248978"/>
            <a:ext cx="25282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수주 실적 및 목표 달성률</a:t>
            </a:r>
            <a:endParaRPr lang="en-US" sz="1950" b="1" dirty="0">
              <a:latin typeface="맑은 고딕 (본문)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87282" y="3678198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총 12군데 수정 요청 적용</a:t>
            </a:r>
            <a:endParaRPr lang="en-US" sz="1550" dirty="0">
              <a:latin typeface="맑은 고딕 (본문)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3790" y="4194096"/>
            <a:ext cx="6521291" cy="114347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93790" y="4194096"/>
            <a:ext cx="6521291" cy="22860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2148" y="43924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원가 투입 효율 관리</a:t>
            </a:r>
            <a:endParaRPr lang="en-US" sz="1950" b="1" dirty="0">
              <a:latin typeface="맑은 고딕 (본문)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92148" y="4821674"/>
            <a:ext cx="61245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총 1군데 수정 요청 적용</a:t>
            </a:r>
            <a:endParaRPr lang="en-US" sz="1550" dirty="0">
              <a:latin typeface="맑은 고딕 (본문)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081" y="4194096"/>
            <a:ext cx="6521410" cy="114347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315081" y="4194096"/>
            <a:ext cx="22860" cy="1143476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315081" y="4194096"/>
            <a:ext cx="6521410" cy="22860"/>
          </a:xfrm>
          <a:prstGeom prst="roundRect">
            <a:avLst>
              <a:gd name="adj" fmla="val 130232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513439" y="43924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수금 실적 및 미수금</a:t>
            </a:r>
            <a:endParaRPr lang="en-US" sz="1950" b="1" dirty="0">
              <a:latin typeface="맑은 고딕 (본문)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13439" y="4821674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총 4군데 수정 요청 적용</a:t>
            </a:r>
            <a:endParaRPr lang="en-US" sz="1550" dirty="0">
              <a:latin typeface="맑은 고딕 (본문)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3790" y="556081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각 메뉴는 일일 업무 일지 및 주간 업무 계획에서 입력된 데이터를 기반으로 실시간 업데이트되며, 연간·월간 목표 대비 실적을 누계 기준으로 관리합니다. </a:t>
            </a:r>
            <a:r>
              <a:rPr lang="en-US" sz="15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모든 현황 메뉴는 조직 단위(종합, 본사, 검단, SR, AD, ID) 기준으로 조회가 가능하여 팀별 성과 비교 </a:t>
            </a:r>
            <a:r>
              <a:rPr lang="en-US" sz="15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및 관리가 용이합니다.</a:t>
            </a:r>
            <a:endParaRPr lang="en-US" sz="1550" dirty="0">
              <a:latin typeface="맑은 고딕 (본문)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508278"/>
            <a:ext cx="6092904" cy="57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건설사 영업 현황 관리 추가 개발</a:t>
            </a:r>
            <a:endParaRPr lang="en-US" sz="3600" b="1" dirty="0">
              <a:latin typeface="맑은 고딕 (본문)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8426" y="1159073"/>
            <a:ext cx="5106591" cy="46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100대 건설사 기준 영업 활동 관리</a:t>
            </a:r>
            <a:endParaRPr lang="en-US" sz="2900" b="1" dirty="0">
              <a:latin typeface="맑은 고딕 (본문)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8426" y="1897499"/>
            <a:ext cx="13153549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본 시스템은 100대 건설사를 기준으로 영업 활동의 진행 현황을 단계별·유형별로 집계·관리하기 위한 목적을 가집니다. </a:t>
            </a:r>
            <a:r>
              <a:rPr lang="en-US" sz="14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영업 활동은 업체 등록, 미팅 진행, 견적 제출, 계약 체결로 구분</a:t>
            </a: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하며, 각 활동 유형별로 현재 진행 중인 건설사 수가 각각 독립적으로 집계되도록 구성합니다.</a:t>
            </a:r>
            <a:endParaRPr lang="en-US" sz="1450" dirty="0">
              <a:latin typeface="맑은 고딕 (본문)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8426" y="2788206"/>
            <a:ext cx="4230648" cy="609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100</a:t>
            </a:r>
            <a:endParaRPr lang="en-US" sz="4750" b="1" dirty="0">
              <a:latin typeface="맑은 고딕 (본문)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99855" y="3628192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대상 건설사</a:t>
            </a:r>
            <a:endParaRPr lang="en-US" sz="1800" dirty="0">
              <a:latin typeface="맑은 고딕 (본문)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8426" y="4027289"/>
            <a:ext cx="423064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국내 주요 100대 건설사 영업 현황 관리</a:t>
            </a:r>
            <a:endParaRPr lang="en-US" sz="1450" dirty="0">
              <a:latin typeface="맑은 고딕 (본문)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99817" y="2788206"/>
            <a:ext cx="4230648" cy="609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4</a:t>
            </a:r>
            <a:endParaRPr lang="en-US" sz="4750" b="1" dirty="0">
              <a:latin typeface="맑은 고딕 (본문)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61246" y="3628192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영업 단계</a:t>
            </a:r>
            <a:endParaRPr lang="en-US" sz="1800" dirty="0">
              <a:latin typeface="맑은 고딕 (본문)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9817" y="4027289"/>
            <a:ext cx="423064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업체 등록, 미팅, 견적, 계약 단계별 집계</a:t>
            </a:r>
            <a:endParaRPr lang="en-US" sz="1450" dirty="0">
              <a:latin typeface="맑은 고딕 (본문)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61208" y="2788206"/>
            <a:ext cx="4230648" cy="609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10</a:t>
            </a:r>
            <a:endParaRPr lang="en-US" sz="4750" b="1" dirty="0">
              <a:latin typeface="맑은 고딕 (본문)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622637" y="3628192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상위 건설사</a:t>
            </a:r>
            <a:endParaRPr lang="en-US" sz="1800" dirty="0">
              <a:latin typeface="맑은 고딕 (본문)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61208" y="4027289"/>
            <a:ext cx="423064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진행·비진행 상위 10개사 실명 노출</a:t>
            </a:r>
            <a:endParaRPr lang="en-US" sz="1450" b="1" dirty="0">
              <a:latin typeface="맑은 고딕 (본문)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8426" y="4714875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단계별 커버리지 분석</a:t>
            </a:r>
            <a:endParaRPr lang="en-US" sz="1800" b="1" dirty="0">
              <a:latin typeface="맑은 고딕 (본문)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8426" y="5187791"/>
            <a:ext cx="6351627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업체 등록이 완료된 건설사 수</a:t>
            </a:r>
            <a:endParaRPr lang="en-US" sz="1450" dirty="0">
              <a:latin typeface="맑은 고딕 (본문)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8426" y="5547717"/>
            <a:ext cx="6351627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미팅이 진행 중인 건설사 수</a:t>
            </a:r>
            <a:endParaRPr lang="en-US" sz="1450" dirty="0">
              <a:latin typeface="맑은 고딕 (본문)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8426" y="5907643"/>
            <a:ext cx="6351627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견적이 제출된 건설사 수</a:t>
            </a:r>
            <a:endParaRPr lang="en-US" sz="1450" dirty="0">
              <a:latin typeface="맑은 고딕 (본문)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8426" y="6267569"/>
            <a:ext cx="6351627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계약까지 진행된 건설사 수</a:t>
            </a:r>
            <a:endParaRPr lang="en-US" sz="1450" dirty="0">
              <a:latin typeface="맑은 고딕 (본문)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47967" y="4714875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목표 대비 실행률 관리</a:t>
            </a:r>
            <a:endParaRPr lang="en-US" sz="1800" b="1" dirty="0">
              <a:latin typeface="맑은 고딕 (본문)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47967" y="5187791"/>
            <a:ext cx="6351627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각 활동 유형별 실적은 연간 목표 대비 실행률과 월간 목표 대비 실행률을 누계 기준으로 집계하며, </a:t>
            </a:r>
            <a:r>
              <a:rPr lang="en-US" sz="14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최근 영업 활동 내역은 등록일 기준으로 실시간 모니터링</a:t>
            </a: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이 가능합니다.</a:t>
            </a:r>
            <a:endParaRPr lang="en-US" sz="1450" dirty="0">
              <a:latin typeface="맑은 고딕 (본문)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8426" y="6835140"/>
            <a:ext cx="13153549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또한, </a:t>
            </a:r>
            <a:r>
              <a:rPr lang="en-US" sz="14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100대 건설사를 기준으로 </a:t>
            </a:r>
            <a:r>
              <a:rPr lang="en-US" sz="1450" b="1" dirty="0">
                <a:solidFill>
                  <a:srgbClr val="1D4241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영업이 진행 중인 건설사와 비진행 건설사를 구분 집계</a:t>
            </a: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하고, </a:t>
            </a:r>
            <a:r>
              <a:rPr lang="en-US" sz="14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각각 상위 10개 건설사명을 실명으로 노출하여 현재 집중 관리 대상과 미접근 대상을 동시에 인지할 수 있도록 합니다</a:t>
            </a: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. 건설사 영업 현황은 </a:t>
            </a:r>
            <a:r>
              <a:rPr lang="en-US" sz="14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공종별(금속공사, 석재공사, 인테리어, 중문, 하드웨어)로 구분 조회가 </a:t>
            </a: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가능하며, 메뉴 명칭은 "</a:t>
            </a:r>
            <a:r>
              <a:rPr lang="en-US" sz="145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건설사 영업 현황"</a:t>
            </a:r>
            <a:r>
              <a:rPr lang="en-US" sz="14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으로 변경하여 시스템의 목적과 관리 범위를 명확히 인식할 수 있도록 합니다.</a:t>
            </a:r>
            <a:endParaRPr lang="en-US" sz="1450" dirty="0">
              <a:latin typeface="맑은 고딕 (본문)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251" y="463510"/>
            <a:ext cx="5175528" cy="5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현장 추가 영업 현황 관리 개요</a:t>
            </a:r>
            <a:endParaRPr lang="en-US" sz="3300" b="1" dirty="0">
              <a:latin typeface="맑은 고딕 (본문)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4251" y="1057751"/>
            <a:ext cx="4760357" cy="421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현장 단위 추가 영업 효율 모니터링</a:t>
            </a:r>
            <a:endParaRPr lang="en-US" sz="2650" b="1" dirty="0">
              <a:latin typeface="맑은 고딕 (본문)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4251" y="1732002"/>
            <a:ext cx="13281898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본 시스템은 미성 ERP에 등록된 계약 현장을 기준으로, </a:t>
            </a:r>
            <a:r>
              <a:rPr lang="en-US" sz="130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현장 단위 추가 영업 진행 현황과 효율을 모니터링하기 위한 관리 화면</a:t>
            </a: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입니다. 모든 데이터는 </a:t>
            </a:r>
            <a:r>
              <a:rPr lang="en-US" sz="130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추가 영업 풀(DB)/</a:t>
            </a:r>
            <a:r>
              <a:rPr lang="ko-KR" altLang="en-US" sz="130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신규 </a:t>
            </a:r>
            <a:r>
              <a:rPr lang="en-US" sz="1300" dirty="0" err="1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에서</a:t>
            </a: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 현장 기준으로 관리되며, </a:t>
            </a:r>
            <a:r>
              <a:rPr lang="en-US" sz="1300" b="1" dirty="0">
                <a:solidFill>
                  <a:srgbClr val="FF0000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미성이 계약한 현장에서 추가 영업이 실제로 얼마나 발생하고 있는지를 파악</a:t>
            </a: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할 수 있도록 구성합니다.</a:t>
            </a:r>
            <a:endParaRPr lang="en-US" sz="1300" dirty="0">
              <a:latin typeface="맑은 고딕 (본문)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50983" y="2973110"/>
            <a:ext cx="2587109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현장 기준 추가 영업 단계 관리</a:t>
            </a:r>
            <a:endParaRPr lang="en-US" sz="1650" b="1" dirty="0">
              <a:latin typeface="맑은 고딕 (본문)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4251" y="3337560"/>
            <a:ext cx="4063841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추가 영업은 현장 단위로 미팅, 견적, 계약으로 구분하여 관리하며, </a:t>
            </a:r>
            <a:r>
              <a:rPr lang="en-US" sz="130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각 단계별로 추가 영업이 진행 중인 현장 수를 집계</a:t>
            </a: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합니다.</a:t>
            </a:r>
            <a:endParaRPr lang="en-US" sz="1300" dirty="0">
              <a:latin typeface="맑은 고딕 (본문)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862" y="2460903"/>
            <a:ext cx="4648557" cy="4648557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8433" y="3508474"/>
            <a:ext cx="252174" cy="2521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92189" y="3107888"/>
            <a:ext cx="3026926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계약 현장 대비 추가 영업 효율 분석</a:t>
            </a:r>
            <a:endParaRPr lang="en-US" sz="1650" b="1" dirty="0">
              <a:latin typeface="맑은 고딕 (본문)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892189" y="3472339"/>
            <a:ext cx="406396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미성 ERP 기준 </a:t>
            </a:r>
            <a:r>
              <a:rPr lang="en-US" sz="130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전체 계약 현장 수 대비 추가 영업이 진행 중인 현장 수를 비교</a:t>
            </a: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하여 추가 영업 효율을 분석합니다.</a:t>
            </a:r>
            <a:endParaRPr lang="en-US" sz="1300" dirty="0">
              <a:latin typeface="맑은 고딕 (본문)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862" y="2460903"/>
            <a:ext cx="4648557" cy="464855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9435" y="3508474"/>
            <a:ext cx="252174" cy="25217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92189" y="5423773"/>
            <a:ext cx="2797731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공사부 → 영업부 인계 성과 관리</a:t>
            </a:r>
            <a:endParaRPr lang="en-US" sz="1650" b="1" dirty="0">
              <a:latin typeface="맑은 고딕 (본문)"/>
            </a:endParaRPr>
          </a:p>
        </p:txBody>
      </p:sp>
      <p:sp>
        <p:nvSpPr>
          <p:cNvPr id="14" name="Text 8"/>
          <p:cNvSpPr/>
          <p:nvPr/>
        </p:nvSpPr>
        <p:spPr>
          <a:xfrm>
            <a:off x="9892189" y="5788223"/>
            <a:ext cx="4063960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공사에서 영업으로 넘긴 현장 수와 실제 추가 계약으로 성사된 현장 수를 월별·누계 기준으로 집계</a:t>
            </a: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하여 성사율을 관리합니다.</a:t>
            </a:r>
            <a:endParaRPr lang="en-US" sz="1300" dirty="0">
              <a:latin typeface="맑은 고딕 (본문)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0862" y="2460903"/>
            <a:ext cx="4648557" cy="4648557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39435" y="5809476"/>
            <a:ext cx="252174" cy="25217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344817" y="5558552"/>
            <a:ext cx="2393275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조직 단위 조회 및 메뉴 구성</a:t>
            </a:r>
            <a:endParaRPr lang="en-US" sz="1650" b="1" dirty="0">
              <a:latin typeface="맑은 고딕 (본문)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74251" y="5923002"/>
            <a:ext cx="406384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종합, 본사, 검단, SR, AD, ID 단위로 현황 조회가 가능하며, 메뉴 명칭은 '현장 영업 현황'으로 변경됩니다.</a:t>
            </a:r>
            <a:endParaRPr lang="en-US" sz="1300" dirty="0">
              <a:latin typeface="맑은 고딕 (본문)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0862" y="2460903"/>
            <a:ext cx="4648557" cy="4648557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38433" y="5809476"/>
            <a:ext cx="252174" cy="25217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74251" y="7299008"/>
            <a:ext cx="13281898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현장 지원 화면에서 입력된 유상 AS 및 무상 AS 데이터는 현장 영업 현황 화면으로 연계되어 관리되며, AS가 진행 중인 현장 수를 집계값으로 확인할 수 있습니다. AS 유형은 미성 ERP 계약 기간(6개월, 24개월 기준)에 따라 무상 AS와 유상 AS로 자동 분류되며, 무상 AS로 분류된 건은 담당자가 유상 AS로 전환할 수 있습니다. 무상 AS에서 유상 AS로 전환된 건은 추가 영업 스코어에서 월별·누계 기준으로 별도 집계하여, </a:t>
            </a:r>
            <a:r>
              <a:rPr lang="en-US" sz="1300" b="1" dirty="0">
                <a:solidFill>
                  <a:srgbClr val="15213F"/>
                </a:solidFill>
                <a:highlight>
                  <a:srgbClr val="FBFCFE"/>
                </a:highlight>
                <a:latin typeface="맑은 고딕 (본문)"/>
                <a:ea typeface="Roboto" pitchFamily="34" charset="-122"/>
                <a:cs typeface="Roboto" pitchFamily="34" charset="-120"/>
              </a:rPr>
              <a:t>현장 지원 AS가 추가 영업 성과로 얼마나 전환되고 있는지</a:t>
            </a:r>
            <a:r>
              <a:rPr lang="en-US" sz="1300" b="1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를 확인</a:t>
            </a:r>
            <a:r>
              <a:rPr lang="en-US" sz="130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할 수 있도록 합니다.</a:t>
            </a:r>
            <a:endParaRPr lang="en-US" sz="1300" dirty="0">
              <a:latin typeface="맑은 고딕 (본문)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766" y="282416"/>
            <a:ext cx="295727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현장 추가 영업 현황 관리 UI</a:t>
            </a:r>
            <a:endParaRPr lang="en-US" sz="2000" b="1" dirty="0">
              <a:latin typeface="맑은 고딕 (본문)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0766" y="644366"/>
            <a:ext cx="205382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57B8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통합 모니터링 화면 구성</a:t>
            </a:r>
            <a:endParaRPr lang="en-US" sz="1600" b="1" dirty="0">
              <a:latin typeface="맑은 고딕 (본문)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20" y="1052394"/>
            <a:ext cx="13808869" cy="703968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702" y="1508890"/>
            <a:ext cx="336294" cy="3362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2920" y="2315996"/>
            <a:ext cx="2313704" cy="37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계약 현장 수</a:t>
            </a:r>
            <a:endParaRPr lang="en-US" sz="1350" b="1" dirty="0">
              <a:latin typeface="맑은 고딕 (본문)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82920" y="2801942"/>
            <a:ext cx="2313704" cy="60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미성 ERP 기준 계약된 현장 수</a:t>
            </a:r>
            <a:endParaRPr lang="en-US" sz="1050" dirty="0">
              <a:latin typeface="맑은 고딕 (본문)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67999" y="1508890"/>
            <a:ext cx="336294" cy="3362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86217" y="2315996"/>
            <a:ext cx="2313704" cy="37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추가 영업 풀</a:t>
            </a:r>
            <a:endParaRPr lang="en-US" sz="1350" b="1" dirty="0">
              <a:latin typeface="맑은 고딕 (본문)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586217" y="2801942"/>
            <a:ext cx="2313704" cy="60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DB에 등록된 추가 영업 대상</a:t>
            </a:r>
            <a:endParaRPr lang="en-US" sz="1050" dirty="0">
              <a:latin typeface="맑은 고딕 (본문)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71295" y="1508890"/>
            <a:ext cx="336294" cy="33629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89514" y="2315996"/>
            <a:ext cx="2313703" cy="37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영업 단계별 현황</a:t>
            </a:r>
            <a:endParaRPr lang="en-US" sz="1350" b="1" dirty="0">
              <a:latin typeface="맑은 고딕 (본문)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989514" y="2801942"/>
            <a:ext cx="2313703" cy="60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미팅·견적·계약 단계별 건수</a:t>
            </a:r>
            <a:endParaRPr lang="en-US" sz="1050" dirty="0">
              <a:latin typeface="맑은 고딕 (본문)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74592" y="1508890"/>
            <a:ext cx="336295" cy="33629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392811" y="2315996"/>
            <a:ext cx="2313703" cy="37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영업 효율 분석</a:t>
            </a:r>
            <a:endParaRPr lang="en-US" sz="1350" b="1" dirty="0">
              <a:latin typeface="맑은 고딕 (본문)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1392811" y="2801942"/>
            <a:ext cx="2313703" cy="60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계약 대비 추가 영업 전환율</a:t>
            </a:r>
            <a:endParaRPr lang="en-US" sz="1050" dirty="0">
              <a:latin typeface="맑은 고딕 (본문)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4702" y="4925639"/>
            <a:ext cx="336294" cy="33629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82920" y="5732745"/>
            <a:ext cx="2313704" cy="37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현장 인계 관리</a:t>
            </a:r>
            <a:endParaRPr lang="en-US" sz="1350" b="1" dirty="0">
              <a:latin typeface="맑은 고딕 (본문)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182920" y="6218690"/>
            <a:ext cx="2313704" cy="60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공사부 → 영업부 인계 상태</a:t>
            </a:r>
            <a:endParaRPr lang="en-US" sz="1050" dirty="0">
              <a:latin typeface="맑은 고딕 (본문)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67999" y="4925639"/>
            <a:ext cx="336294" cy="33629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586217" y="5732745"/>
            <a:ext cx="2313704" cy="37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조직 단위 조회</a:t>
            </a:r>
            <a:endParaRPr lang="en-US" sz="1350" b="1" dirty="0">
              <a:latin typeface="맑은 고딕 (본문)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4586217" y="6218690"/>
            <a:ext cx="2313704" cy="60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종합·본사·검단·SR·AD·ID</a:t>
            </a:r>
            <a:endParaRPr lang="en-US" sz="1050" dirty="0">
              <a:latin typeface="맑은 고딕 (본문)"/>
            </a:endParaRPr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71295" y="4925639"/>
            <a:ext cx="336294" cy="33629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989514" y="5732745"/>
            <a:ext cx="2313703" cy="37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AS 자동 분류</a:t>
            </a:r>
            <a:endParaRPr lang="en-US" sz="1350" b="1" dirty="0">
              <a:latin typeface="맑은 고딕 (본문)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7989514" y="6218690"/>
            <a:ext cx="2313703" cy="60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유상 / 무상 AS 자동 분류</a:t>
            </a:r>
            <a:endParaRPr lang="en-US" sz="1050" dirty="0">
              <a:latin typeface="맑은 고딕 (본문)"/>
            </a:endParaRPr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74592" y="4925639"/>
            <a:ext cx="336295" cy="33629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1392811" y="5732745"/>
            <a:ext cx="2313703" cy="378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맑은 고딕 (본문)"/>
                <a:ea typeface="Roboto Slab" pitchFamily="34" charset="-122"/>
                <a:cs typeface="Roboto Slab" pitchFamily="34" charset="-120"/>
              </a:rPr>
              <a:t>무상→유상 전환</a:t>
            </a:r>
            <a:endParaRPr lang="en-US" sz="1350" b="1" dirty="0">
              <a:latin typeface="맑은 고딕 (본문)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11392811" y="6218690"/>
            <a:ext cx="2313703" cy="60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맑은 고딕 (본문)"/>
                <a:ea typeface="Roboto" pitchFamily="34" charset="-122"/>
                <a:cs typeface="Roboto" pitchFamily="34" charset="-120"/>
              </a:rPr>
              <a:t>전환 시 금액 및 사유 입력</a:t>
            </a:r>
            <a:endParaRPr lang="en-US" sz="1050" dirty="0">
              <a:latin typeface="맑은 고딕 (본문)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410766" y="8312825"/>
            <a:ext cx="1283613" cy="16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 관리 지표</a:t>
            </a:r>
            <a:endParaRPr lang="en-US" sz="1000" dirty="0"/>
          </a:p>
        </p:txBody>
      </p:sp>
      <p:sp>
        <p:nvSpPr>
          <p:cNvPr id="30" name="Text 19"/>
          <p:cNvSpPr/>
          <p:nvPr/>
        </p:nvSpPr>
        <p:spPr>
          <a:xfrm>
            <a:off x="410766" y="8575834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미성 ERP 계약 현장 개수</a:t>
            </a:r>
            <a:endParaRPr lang="en-US" sz="800" dirty="0"/>
          </a:p>
        </p:txBody>
      </p:sp>
      <p:sp>
        <p:nvSpPr>
          <p:cNvPr id="31" name="Text 20"/>
          <p:cNvSpPr/>
          <p:nvPr/>
        </p:nvSpPr>
        <p:spPr>
          <a:xfrm>
            <a:off x="410766" y="8775978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추가 영업 풀(DB) 현장 갯수</a:t>
            </a:r>
            <a:endParaRPr lang="en-US" sz="800" dirty="0"/>
          </a:p>
        </p:txBody>
      </p:sp>
      <p:sp>
        <p:nvSpPr>
          <p:cNvPr id="32" name="Text 21"/>
          <p:cNvSpPr/>
          <p:nvPr/>
        </p:nvSpPr>
        <p:spPr>
          <a:xfrm>
            <a:off x="410766" y="8976122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추가 영업 단계별 현장 수 (미팅/견적/계약)</a:t>
            </a:r>
            <a:endParaRPr lang="en-US" sz="800" dirty="0"/>
          </a:p>
        </p:txBody>
      </p:sp>
      <p:sp>
        <p:nvSpPr>
          <p:cNvPr id="33" name="Text 22"/>
          <p:cNvSpPr/>
          <p:nvPr/>
        </p:nvSpPr>
        <p:spPr>
          <a:xfrm>
            <a:off x="410766" y="9176266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계약 현장 대비 추가 영업 효율</a:t>
            </a:r>
            <a:endParaRPr lang="en-US" sz="800" dirty="0"/>
          </a:p>
        </p:txBody>
      </p:sp>
      <p:sp>
        <p:nvSpPr>
          <p:cNvPr id="34" name="Text 23"/>
          <p:cNvSpPr/>
          <p:nvPr/>
        </p:nvSpPr>
        <p:spPr>
          <a:xfrm>
            <a:off x="410766" y="9376410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공사부 → 영업부 현장 인계 관리</a:t>
            </a:r>
            <a:endParaRPr lang="en-US" sz="800" dirty="0"/>
          </a:p>
        </p:txBody>
      </p:sp>
      <p:sp>
        <p:nvSpPr>
          <p:cNvPr id="35" name="Text 24"/>
          <p:cNvSpPr/>
          <p:nvPr/>
        </p:nvSpPr>
        <p:spPr>
          <a:xfrm>
            <a:off x="410766" y="9576554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조직 단위 조회 (종합/본사/검단/SR/AD/ID)</a:t>
            </a:r>
            <a:endParaRPr lang="en-US" sz="800" dirty="0"/>
          </a:p>
        </p:txBody>
      </p:sp>
      <p:sp>
        <p:nvSpPr>
          <p:cNvPr id="36" name="Text 25"/>
          <p:cNvSpPr/>
          <p:nvPr/>
        </p:nvSpPr>
        <p:spPr>
          <a:xfrm>
            <a:off x="7448074" y="8312825"/>
            <a:ext cx="1283613" cy="16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 관리 통합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7448074" y="8575834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유상 / 무상 AS 자동 분류</a:t>
            </a:r>
            <a:endParaRPr lang="en-US" sz="800" dirty="0"/>
          </a:p>
        </p:txBody>
      </p:sp>
      <p:sp>
        <p:nvSpPr>
          <p:cNvPr id="38" name="Text 27"/>
          <p:cNvSpPr/>
          <p:nvPr/>
        </p:nvSpPr>
        <p:spPr>
          <a:xfrm>
            <a:off x="7448074" y="8775978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무상 AS → 유상 AS 전환 (금액·사유 입력)</a:t>
            </a:r>
            <a:endParaRPr lang="en-US" sz="800" dirty="0"/>
          </a:p>
        </p:txBody>
      </p:sp>
      <p:sp>
        <p:nvSpPr>
          <p:cNvPr id="39" name="Text 28"/>
          <p:cNvSpPr/>
          <p:nvPr/>
        </p:nvSpPr>
        <p:spPr>
          <a:xfrm>
            <a:off x="7448074" y="8976122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처리 단계별 현황 (접수/처리/완료)</a:t>
            </a:r>
            <a:endParaRPr lang="en-US" sz="800" dirty="0"/>
          </a:p>
        </p:txBody>
      </p:sp>
      <p:sp>
        <p:nvSpPr>
          <p:cNvPr id="40" name="Text 29"/>
          <p:cNvSpPr/>
          <p:nvPr/>
        </p:nvSpPr>
        <p:spPr>
          <a:xfrm>
            <a:off x="7448074" y="9176266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하자 처리 완료증 접수 현황</a:t>
            </a:r>
            <a:endParaRPr lang="en-US" sz="800" dirty="0"/>
          </a:p>
        </p:txBody>
      </p:sp>
      <p:sp>
        <p:nvSpPr>
          <p:cNvPr id="41" name="Text 30"/>
          <p:cNvSpPr/>
          <p:nvPr/>
        </p:nvSpPr>
        <p:spPr>
          <a:xfrm>
            <a:off x="7448074" y="9376410"/>
            <a:ext cx="67791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MSG 유입 AS 누계 현황</a:t>
            </a:r>
            <a:endParaRPr lang="en-US" sz="800" dirty="0"/>
          </a:p>
        </p:txBody>
      </p:sp>
      <p:sp>
        <p:nvSpPr>
          <p:cNvPr id="42" name="Text 31"/>
          <p:cNvSpPr/>
          <p:nvPr/>
        </p:nvSpPr>
        <p:spPr>
          <a:xfrm>
            <a:off x="410766" y="9892189"/>
            <a:ext cx="138088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현장 영업 현황 화면에서는 단계별 현장 수, 추가 영업 효율, 인계 성과, AS 진행/완료 현황을 한눈에 파악할 수 있습니다. 사용 편의성을 고려해 메인 메뉴에 배치하는 방안도 검토 가능하며, 모든 지표는 </a:t>
            </a:r>
            <a:r>
              <a:rPr lang="en-US" sz="800" dirty="0">
                <a:solidFill>
                  <a:srgbClr val="1D42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현장 기준의 실행 현황과 효율 중심</a:t>
            </a: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으로 구성되어 직관적인 성과 관리가 가능합니다.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07 - 2010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2422</Words>
  <Application>Microsoft Office PowerPoint</Application>
  <PresentationFormat>사용자 지정</PresentationFormat>
  <Paragraphs>235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Roboto Slab</vt:lpstr>
      <vt:lpstr>맑은 고딕 (본문)</vt:lpstr>
      <vt:lpstr>Roboto</vt:lpstr>
      <vt:lpstr>Arial</vt:lpstr>
      <vt:lpstr>맑은 고딕 (제목)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gram</dc:creator>
  <cp:lastModifiedBy>기철 한</cp:lastModifiedBy>
  <cp:revision>4</cp:revision>
  <dcterms:created xsi:type="dcterms:W3CDTF">2025-12-13T05:20:40Z</dcterms:created>
  <dcterms:modified xsi:type="dcterms:W3CDTF">2025-12-14T10:51:59Z</dcterms:modified>
</cp:coreProperties>
</file>